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Median nightly price ($) by borough and room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Entire home/apt</c:v>
                </c:pt>
              </c:strCache>
            </c:strRef>
          </c:tx>
          <c:spPr>
            <a:solidFill>
              <a:srgbClr val="4C72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Bronx</c:v>
                  </c:pt>
                  <c:pt idx="1">
                    <c:v>Brooklyn</c:v>
                  </c:pt>
                  <c:pt idx="2">
                    <c:v>Manhattan</c:v>
                  </c:pt>
                  <c:pt idx="3">
                    <c:v>Queens</c:v>
                  </c:pt>
                  <c:pt idx="4">
                    <c:v>Staten Island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145</c:v>
                </c:pt>
                <c:pt idx="2">
                  <c:v>190</c:v>
                </c:pt>
                <c:pt idx="3">
                  <c:v>120</c:v>
                </c:pt>
                <c:pt idx="4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Private room</c:v>
                </c:pt>
              </c:strCache>
            </c:strRef>
          </c:tx>
          <c:spPr>
            <a:solidFill>
              <a:srgbClr val="DD84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Bronx</c:v>
                  </c:pt>
                  <c:pt idx="1">
                    <c:v>Brooklyn</c:v>
                  </c:pt>
                  <c:pt idx="2">
                    <c:v>Manhattan</c:v>
                  </c:pt>
                  <c:pt idx="3">
                    <c:v>Queens</c:v>
                  </c:pt>
                  <c:pt idx="4">
                    <c:v>Staten Island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</c:v>
                </c:pt>
                <c:pt idx="1">
                  <c:v>65</c:v>
                </c:pt>
                <c:pt idx="2">
                  <c:v>90</c:v>
                </c:pt>
                <c:pt idx="3">
                  <c:v>50</c:v>
                </c:pt>
                <c:pt idx="4">
                  <c:v>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Shared room</c:v>
                </c:pt>
              </c:strCache>
            </c:strRef>
          </c:tx>
          <c:spPr>
            <a:solidFill>
              <a:srgbClr val="55A8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Bronx</c:v>
                  </c:pt>
                  <c:pt idx="1">
                    <c:v>Brooklyn</c:v>
                  </c:pt>
                  <c:pt idx="2">
                    <c:v>Manhattan</c:v>
                  </c:pt>
                  <c:pt idx="3">
                    <c:v>Queens</c:v>
                  </c:pt>
                  <c:pt idx="4">
                    <c:v>Staten Island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30</c:v>
                </c:pt>
                <c:pt idx="1">
                  <c:v>30</c:v>
                </c:pt>
                <c:pt idx="2">
                  <c:v>45</c:v>
                </c:pt>
                <c:pt idx="3">
                  <c:v>30</c:v>
                </c:pt>
                <c:pt idx="4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Share of listings by room type, per borough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Entire home/apt</c:v>
                </c:pt>
              </c:strCache>
            </c:strRef>
          </c:tx>
          <c:spPr>
            <a:solidFill>
              <a:srgbClr val="4C72B0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Bronx</c:v>
                  </c:pt>
                  <c:pt idx="1">
                    <c:v>Brooklyn</c:v>
                  </c:pt>
                  <c:pt idx="2">
                    <c:v>Manhattan</c:v>
                  </c:pt>
                  <c:pt idx="3">
                    <c:v>Queens</c:v>
                  </c:pt>
                  <c:pt idx="4">
                    <c:v>Staten Island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0.35</c:v>
                </c:pt>
                <c:pt idx="1">
                  <c:v>0.48</c:v>
                </c:pt>
                <c:pt idx="2">
                  <c:v>0.62</c:v>
                </c:pt>
                <c:pt idx="3">
                  <c:v>0.38</c:v>
                </c:pt>
                <c:pt idx="4">
                  <c:v>0.47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Private room</c:v>
                </c:pt>
              </c:strCache>
            </c:strRef>
          </c:tx>
          <c:spPr>
            <a:solidFill>
              <a:srgbClr val="DD8452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Bronx</c:v>
                  </c:pt>
                  <c:pt idx="1">
                    <c:v>Brooklyn</c:v>
                  </c:pt>
                  <c:pt idx="2">
                    <c:v>Manhattan</c:v>
                  </c:pt>
                  <c:pt idx="3">
                    <c:v>Queens</c:v>
                  </c:pt>
                  <c:pt idx="4">
                    <c:v>Staten Island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</c:v>
                </c:pt>
                <c:pt idx="1">
                  <c:v>0.48</c:v>
                </c:pt>
                <c:pt idx="2">
                  <c:v>0.35</c:v>
                </c:pt>
                <c:pt idx="3">
                  <c:v>0.58</c:v>
                </c:pt>
                <c:pt idx="4">
                  <c:v>0.48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Shared room</c:v>
                </c:pt>
              </c:strCache>
            </c:strRef>
          </c:tx>
          <c:spPr>
            <a:solidFill>
              <a:srgbClr val="55A868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Bronx</c:v>
                  </c:pt>
                  <c:pt idx="1">
                    <c:v>Brooklyn</c:v>
                  </c:pt>
                  <c:pt idx="2">
                    <c:v>Manhattan</c:v>
                  </c:pt>
                  <c:pt idx="3">
                    <c:v>Queens</c:v>
                  </c:pt>
                  <c:pt idx="4">
                    <c:v>Staten Island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0.05</c:v>
                </c:pt>
                <c:pt idx="1">
                  <c:v>0.04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9525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C44E52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822960"/>
            <a:ext cx="2743200" cy="274320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160520"/>
            <a:ext cx="12188952" cy="27432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· SUMMER 2026 · FINAL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Gets Booked?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Look Inside NYC's Airbnb Market (2019)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58368" y="4526280"/>
            <a:ext cx="27432" cy="960120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480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Adithyta Anthappa Moolya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4892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Europe for Applied Sciences  ·  Section 120A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NYC Airbnb Open Data (Kaggle / Inside Airbnb)  •  48,900 listings  •  12 analytical questions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Adithyta Anthappa Moolya  ·  Section 120A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12024360" cy="45720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Real-world, rich, and genuinely varied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Adithyta Anthappa Moolya  ·  Section 120A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7F7F9"/>
          </a:solidFill>
          <a:ln w="12700">
            <a:solidFill>
              <a:srgbClr val="E4E4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28800"/>
            <a:ext cx="3566160" cy="109728"/>
          </a:xfrm>
          <a:prstGeom prst="rect">
            <a:avLst/>
          </a:prstGeom>
          <a:solidFill>
            <a:srgbClr val="4C72B0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4C72B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148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77240" y="288036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 listing activity from Inside Airbnb, hosted on Kaggle — not built for teaching, widely cited in market analyses.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389120" y="182880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7F7F9"/>
          </a:solidFill>
          <a:ln w="12700">
            <a:solidFill>
              <a:srgbClr val="E4E4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1828800"/>
            <a:ext cx="3566160" cy="109728"/>
          </a:xfrm>
          <a:prstGeom prst="rect">
            <a:avLst/>
          </a:prstGeom>
          <a:solidFill>
            <a:srgbClr val="DD8452"/>
          </a:solidFill>
          <a:ln/>
        </p:spPr>
      </p:sp>
      <p:sp>
        <p:nvSpPr>
          <p:cNvPr id="16" name="Shape 14"/>
          <p:cNvSpPr/>
          <p:nvPr/>
        </p:nvSpPr>
        <p:spPr>
          <a:xfrm>
            <a:off x="4617720" y="2148840"/>
            <a:ext cx="502920" cy="502920"/>
          </a:xfrm>
          <a:prstGeom prst="ellipse">
            <a:avLst/>
          </a:prstGeom>
          <a:solidFill>
            <a:srgbClr val="DD8452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57800" y="2148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17720" y="288036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columns: price, location, room type, minimum nights, reviews, availability, and host listing count.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0" y="182880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7F7F9"/>
          </a:solidFill>
          <a:ln w="12700">
            <a:solidFill>
              <a:srgbClr val="E4E4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1828800"/>
            <a:ext cx="3566160" cy="109728"/>
          </a:xfrm>
          <a:prstGeom prst="rect">
            <a:avLst/>
          </a:prstGeom>
          <a:solidFill>
            <a:srgbClr val="55A868"/>
          </a:solidFill>
          <a:ln/>
        </p:spPr>
      </p:sp>
      <p:sp>
        <p:nvSpPr>
          <p:cNvPr id="22" name="Shape 20"/>
          <p:cNvSpPr/>
          <p:nvPr/>
        </p:nvSpPr>
        <p:spPr>
          <a:xfrm>
            <a:off x="8458200" y="2148840"/>
            <a:ext cx="502920" cy="502920"/>
          </a:xfrm>
          <a:prstGeom prst="ellipse">
            <a:avLst/>
          </a:prstGeom>
          <a:solidFill>
            <a:srgbClr val="55A868"/>
          </a:solidFill>
          <a:ln/>
        </p:spPr>
      </p:sp>
      <p:sp>
        <p:nvSpPr>
          <p:cNvPr id="23" name="Text 21"/>
          <p:cNvSpPr/>
          <p:nvPr/>
        </p:nvSpPr>
        <p:spPr>
          <a:xfrm>
            <a:off x="84582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98280" y="2148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Varied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458200" y="288036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Mixes numerical (price, reviews), categorical (borough, room type), temporal (last review), and spatial (lat/long) attributes.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single 2019 snapshot, all five NYC boroughs, ~48,900 active listings.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12024360" cy="45720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flat table, twelve angles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Adithyta Anthappa Moolya  ·  Section 120A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7830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listing-level CSV directly from source (data_prep.py)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6517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prices, parse review dates, fill missing review-frequency values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5204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host type (multi- vs. single-listing), price bands, and availability bands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3891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12 multi-dimensional analytical questions, each visualized in Plotly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52578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a subset into an interactive Streamlit dashboard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12024360" cy="45720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QUESTIONS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questions, 12 publication-ready visuals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Adithyta Anthappa Moolya  ·  Section 120A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Price by borough, across room types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" y="249631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Price vs. review count (does cheap = booked?)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3209544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Availability: multi- vs. single-listing hosts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3922776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Priciest neighbourhoods within each borough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463600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Minimum nights by room type × borough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53492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Price: reviewed vs. never-reviewed listings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217920" y="17830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Geographic price map across the city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17920" y="249631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Booking frequency vs. availability band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217920" y="3209544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Room-type mix by borough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217920" y="3922776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Host type pricing, entire-home listings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217920" y="463600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Price-band distribution by borough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217920" y="53492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Borough × room type × host type, combined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12024360" cy="45720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Manhattan commands a premium in every room type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Adithyta Anthappa Moolya  ·  Section 120A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results from the analysis notebook (Q1).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2011680"/>
          <a:ext cx="7680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8503920" y="210312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Why it matters
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Manhattan entire-home listings median $190/night — almost double the Bronx's $100. The borough premium holds across every room type, not just whole apartments.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12024360" cy="45720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Outer boroughs lean private-room; Manhattan leans whole-apartment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Adithyta Anthappa Moolya  ·  Section 120A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results from the analysis notebook (Q9).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2011680"/>
          <a:ext cx="7680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8503920" y="210312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Why it matters
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Manhattan is 62% entire-home listings vs. just 35% in the Bronx, where private rooms make up 60%. Room-type mix mirrors housing stock and affordability, not just tourist demand.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12024360" cy="45720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it yourself — filters included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Adithyta Anthappa Moolya  ·  Section 120A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1064240" cy="4206240"/>
          </a:xfrm>
          <a:prstGeom prst="roundRect">
            <a:avLst>
              <a:gd name="adj" fmla="val 1304"/>
            </a:avLst>
          </a:prstGeom>
          <a:solidFill>
            <a:srgbClr val="F7F7F9"/>
          </a:solidFill>
          <a:ln w="12700">
            <a:solidFill>
              <a:srgbClr val="E4E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dashboard/app.py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borough, room type, and price range — every chart updates together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tabs: Price &amp; location · Room types &amp; hosts · Demand &amp; availability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393192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headline metrics: listing count, median price, avg. availability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Streamlit Community Cloud from a public GitHub repo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53949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dashboard: https://data-viz-exercise-adithya-anthappa-moolya-fxtvzyajjhzk4sfmhfzq.streamlit.app/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5806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repo: https://github.com/adithyaAM041/data-viz-exercise-Adithya-Anthappa-Moolya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sets the price floor; room type sets the ceiling — and the gap holds across boroughs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17627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activity (a booking proxy) drops sharply once price passes roughly $200/night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798064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Multi-listing hosts keep properties available more and price entire homes higher — a scale effect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41985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Entire-home listings require longer minimum stays almost everywhere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04164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Never-reviewed listings are priced higher, not lower — no evidence of "pay to get reviews" pricing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Room-type mix mirrors each borough's housing stock, not just tourist demand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52852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is the only borough where $150+ listings are the majority of the market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detail, code, and all 12 figures: notebook/NYC_Airbnb_Analysis.ipynb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Adithyta Anthappa Moolya  ·  Section 120A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3840480" cy="3840480"/>
          </a:xfrm>
          <a:prstGeom prst="ellipse">
            <a:avLst/>
          </a:prstGeom>
          <a:solidFill>
            <a:srgbClr val="C44E52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46120"/>
            <a:ext cx="12188952" cy="27432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code, notebook, and live dashboard are linked throughout.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4206240"/>
            <a:ext cx="27432" cy="960120"/>
          </a:xfrm>
          <a:prstGeom prst="rect">
            <a:avLst/>
          </a:prstGeom>
          <a:solidFill>
            <a:srgbClr val="C44E5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160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Adithyta Anthappa Moolya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Europe for Applied Sciences  ·  Section 120A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Adithyta Anthappa Moolya  ·  Section 120A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972800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2026-07-31T10:27:17Z</dcterms:created>
  <dcterms:modified xsi:type="dcterms:W3CDTF">2026-07-31T10:27:17Z</dcterms:modified>
</cp:coreProperties>
</file>